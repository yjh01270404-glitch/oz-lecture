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6000">
                <a:solidFill>
                  <a:srgbClr val="FFFFFF"/>
                </a:solidFill>
                <a:latin typeface="Malgun Gothic"/>
              </a:defRPr>
            </a:pPr>
            <a:r>
              <a:t>띵비엣 (Tiếng Việt)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FFCC00"/>
                </a:solidFill>
                <a:latin typeface="Malgun Gothic"/>
              </a:defRPr>
            </a:pPr>
            <a:r>
              <a:t>음악으로 시작하는 베트남어 학습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282828"/>
                </a:solidFill>
                <a:latin typeface="Malgun Gothic"/>
              </a:defRPr>
            </a:pPr>
            <a:r>
              <a:t>1차 프로젝트 발표</a:t>
            </a:r>
            <a:br/>
            <a:r>
              <a:t>발표자: 띵비엣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01. 서비스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411480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띵비엣(tieng-viet.kr)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음악으로 시작하는 베트남어 학습 SaaS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핵심 가치: '번역기로 외웠는데 현지인이 못 알아듣는다면, 문제는 성조입니다'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핵심 타깃: 베트남 여행자, 결혼이민, 주재원, 비즈니스맨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개발 계기: 교재 없이 음악으로만 베트남어 익힌 본인 경험담</a:t>
            </a:r>
          </a:p>
        </p:txBody>
      </p:sp>
      <p:pic>
        <p:nvPicPr>
          <p:cNvPr id="6" name="Picture 5" descr="media__17818403219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67" y="1463040"/>
            <a:ext cx="6113985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02. 기획 배경과 방향성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57607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국내 베트남어 학습자 증가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기존 앱(듀오링고 등)의 성조 학습 취약점을 공략한 차별화 포인트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학습 방향: 음악·상황 기반 + AI 발음 분석으로 '귀로 익히는' 학습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프리미엄 구조: 비회원 → 무료회원 → 유료구독 (₩6,900~/월)</a:t>
            </a:r>
          </a:p>
        </p:txBody>
      </p:sp>
      <p:pic>
        <p:nvPicPr>
          <p:cNvPr id="6" name="Picture 5" descr="media__1781840351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065" y="1463040"/>
            <a:ext cx="5778589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03. UX전략 및 UI컨셉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617220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UX 전략적 퍼널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로그인 없이 30초 체험 → 가입 유도 → 구독 전환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베트남 국기 레드 + 골드 브랜드 컬러 활용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호치민 스카이라인 배경으로 완벽한 현지감 연출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남/북부 방언 분리 UI 및 6성조 SVG 곡선 시각화</a:t>
            </a:r>
          </a:p>
        </p:txBody>
      </p:sp>
      <p:pic>
        <p:nvPicPr>
          <p:cNvPr id="6" name="Picture 5" descr="media__17818403219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167" y="1463040"/>
            <a:ext cx="5322385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(발음 &amp; 성조)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8181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성조 시각화 및 피드백 시스템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원어민 억양(회색) vs 내 목소리(빨간색) 피치 오버랩 기술</a:t>
            </a:r>
          </a:p>
        </p:txBody>
      </p:sp>
      <p:pic>
        <p:nvPicPr>
          <p:cNvPr id="6" name="Picture 5" descr="media__178184032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59032"/>
            <a:ext cx="6217920" cy="3345775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(발음 &amp; 성조)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8181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30초 발음 테스트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로그인 없이 바로 가능한 30초 발음 테스트 및 음절별 점수 분석 피드백 제공</a:t>
            </a:r>
          </a:p>
        </p:txBody>
      </p:sp>
      <p:pic>
        <p:nvPicPr>
          <p:cNvPr id="6" name="Picture 5" descr="media__1781840322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111" y="1463040"/>
            <a:ext cx="3698497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(14일 코스맵)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8181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체계적인 14일 학습 로드맵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DAY별 상황 학습 → 퀴즈 → 발음 평가 3단계로 구성</a:t>
            </a:r>
          </a:p>
        </p:txBody>
      </p:sp>
      <p:pic>
        <p:nvPicPr>
          <p:cNvPr id="6" name="Picture 5" descr="media__1781840351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314" y="1463040"/>
            <a:ext cx="3872091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(14일 코스맵)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8181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1단계: 상황 엿보기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핵심 표현이 사용되는 현지 상황을 먼저 파악하여 이해도 상승</a:t>
            </a:r>
          </a:p>
        </p:txBody>
      </p:sp>
      <p:pic>
        <p:nvPicPr>
          <p:cNvPr id="6" name="Picture 5" descr="media__1781840351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74213"/>
            <a:ext cx="6217920" cy="3315414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(14일 코스맵)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78181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3단계: 실전 퀴즈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학습한 내용을 바탕으로 한 직관적인 퀴즈 풀이</a:t>
            </a:r>
          </a:p>
        </p:txBody>
      </p:sp>
      <p:pic>
        <p:nvPicPr>
          <p:cNvPr id="6" name="Picture 5" descr="media__1781840351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167950"/>
            <a:ext cx="6217920" cy="352794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(노래 LRC 싱크)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864108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몰입형 가사 싱크 시스템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베트남 인기곡 가사 싱크 기능으로 음악을 들으며 자연스럽게 학습</a:t>
            </a:r>
          </a:p>
        </p:txBody>
      </p:sp>
      <p:pic>
        <p:nvPicPr>
          <p:cNvPr id="6" name="Picture 5" descr="media__1781840351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84085"/>
            <a:ext cx="6217920" cy="2495669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(노래 LRC 싱크)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864108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오피셜 뮤직비디오 연동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가사만 보는 것이 아니라 실제 뮤직비디오와 완벽하게 동기화</a:t>
            </a:r>
          </a:p>
        </p:txBody>
      </p:sp>
      <p:pic>
        <p:nvPicPr>
          <p:cNvPr id="6" name="Picture 5" descr="media__1781840361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933" y="1463040"/>
            <a:ext cx="4826853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(노래 LRC 싱크)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864108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핵심 표현 및 문법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가사 속에 숨어있는 핵심 문법과 주요 표현을 상세히 풀이</a:t>
            </a:r>
          </a:p>
        </p:txBody>
      </p:sp>
      <p:pic>
        <p:nvPicPr>
          <p:cNvPr id="6" name="Picture 5" descr="media__1781840361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699266"/>
            <a:ext cx="6217920" cy="2465308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(노래 LRC 싱크)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864108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노래 가사 단어 사전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곡에 등장하는 주요 단어들을 한눈에 볼 수 있는 전용 사전 제공</a:t>
            </a:r>
          </a:p>
        </p:txBody>
      </p:sp>
      <p:pic>
        <p:nvPicPr>
          <p:cNvPr id="6" name="Picture 5" descr="media__1781840361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3321"/>
            <a:ext cx="6217920" cy="3297197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04. 핵심 기능 (통번역기)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658368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실시간 양방향 번역기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한글 발음(씬짜오)으로도 직관적으로 검색 가능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음성 인식 번역 및 자주 쓰는 표현 분석 제공</a:t>
            </a:r>
          </a:p>
        </p:txBody>
      </p:sp>
      <p:pic>
        <p:nvPicPr>
          <p:cNvPr id="6" name="Picture 5" descr="media__1781840361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516" y="1463040"/>
            <a:ext cx="5583687" cy="4937760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05. 개발 협업 및 구현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699516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1인 개발 시스템 아키텍처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AI 코딩 툴(Antigravity/Cursor) + Claude 아키텍처 설계로 효율 극대화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스택: Next.js · TypeScript · Supabase · Vercel · Cloudflare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결제 모듈: KG이니시스 PortOne V2 + Kakao Pay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앱 배포: Android TWA (Google Play 클로즈드 테스트 배포 완료)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이슈 트러블슈팅: TTS 429 오류 발생 → Supabase Storage 2레이어 캐시 도입으로 해결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06. 향후 계획 및 비전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576072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단계별 로드맵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단기: 정기결제 MID 계약 완료, Google Play 스토어 공개 출시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중기: 유료 구독자 100명 확보 및 Naver 블로그 바이럴 마케팅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장기: 태국어·인도네시아어 등 타 언어 확장, B2B 패키지 제공, 월 안정적인 수익 모델 구축</a:t>
            </a:r>
          </a:p>
        </p:txBody>
      </p:sp>
      <p:pic>
        <p:nvPicPr>
          <p:cNvPr id="6" name="Picture 5" descr="media__17818403218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337971"/>
            <a:ext cx="6217920" cy="3187898"/>
          </a:xfrm>
          <a:prstGeom prst="rect">
            <a:avLst/>
          </a:prstGeom>
          <a:ln w="25400">
            <a:solidFill>
              <a:srgbClr val="C8C8C8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600">
                <a:solidFill>
                  <a:srgbClr val="282828"/>
                </a:solidFill>
                <a:latin typeface="Malgun Gothic"/>
              </a:defRPr>
            </a:pPr>
            <a:r>
              <a:t>07.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2880360" cy="381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200">
                <a:solidFill>
                  <a:srgbClr val="DA251D"/>
                </a:solidFill>
                <a:latin typeface="Malgun Gothic"/>
              </a:defRPr>
            </a:pPr>
            <a:r>
              <a:t>자주 묻는 질문 (FAQ)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Q. 진짜 원어민처럼 발음할 수 있나요?</a:t>
            </a:r>
          </a:p>
          <a:p>
            <a:pPr lvl="1"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→ 피치 오버랩 기술을 통해 스스로 억양을 시각적으로 교정할 수 있습니다.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Q. 무료로도 쓸 수 있나요?</a:t>
            </a:r>
          </a:p>
          <a:p>
            <a:pPr lvl="1"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→ 30초 체험판 및 기본적인 무료회원 범위를 제공하여 허들을 낮췄습니다.</a:t>
            </a:r>
          </a:p>
          <a:p>
            <a:pPr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Q. 북부/남부 방언 차이가 있나요?</a:t>
            </a:r>
          </a:p>
          <a:p>
            <a:pPr lvl="1">
              <a:spcAft>
                <a:spcPts val="1400"/>
              </a:spcAft>
              <a:defRPr sz="2000">
                <a:solidFill>
                  <a:srgbClr val="282828"/>
                </a:solidFill>
                <a:latin typeface="Malgun Gothic"/>
              </a:defRPr>
            </a:pPr>
            <a:r>
              <a:t>→ 하노이/호치민 TTS를 완벽히 분리하여 학습 목적에 맞게 선택할 수 있습니다.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282828"/>
                </a:solidFill>
                <a:latin typeface="Arial Black"/>
              </a:defRPr>
            </a:pPr>
            <a:r>
              <a:t>NEXT</a:t>
            </a:r>
            <a:r>
              <a:rPr sz="1600" b="1">
                <a:solidFill>
                  <a:srgbClr val="DA251D"/>
                </a:solidFill>
                <a:latin typeface="Arial Black"/>
              </a:rPr>
              <a:t>.</a:t>
            </a:r>
            <a:r>
              <a:rPr sz="1600" b="1">
                <a:solidFill>
                  <a:srgbClr val="282828"/>
                </a:solidFill>
                <a:latin typeface="Arial Black"/>
              </a:rPr>
              <a:t>RUNNERS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A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6000">
                <a:solidFill>
                  <a:srgbClr val="FFFFFF"/>
                </a:solidFill>
                <a:latin typeface="Malgun Gothic"/>
              </a:defRPr>
            </a:pPr>
            <a:r>
              <a:t>Cảm ơn!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CC00"/>
                </a:solidFill>
                <a:latin typeface="Malgun Gothic"/>
              </a:defRPr>
            </a:pPr>
            <a:r>
              <a:t>이제 띵비엣과 함께 진짜 베트남어를 시작하세요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